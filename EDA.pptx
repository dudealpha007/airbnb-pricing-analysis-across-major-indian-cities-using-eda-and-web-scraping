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6" r:id="rId3"/>
    <p:sldId id="258" r:id="rId4"/>
    <p:sldId id="260" r:id="rId5"/>
    <p:sldId id="261" r:id="rId6"/>
    <p:sldId id="295" r:id="rId7"/>
    <p:sldId id="296" r:id="rId8"/>
    <p:sldId id="301" r:id="rId9"/>
    <p:sldId id="287" r:id="rId10"/>
    <p:sldId id="303" r:id="rId11"/>
    <p:sldId id="304" r:id="rId12"/>
    <p:sldId id="320" r:id="rId13"/>
    <p:sldId id="308" r:id="rId14"/>
    <p:sldId id="305" r:id="rId15"/>
    <p:sldId id="307" r:id="rId16"/>
    <p:sldId id="309" r:id="rId17"/>
    <p:sldId id="321" r:id="rId18"/>
    <p:sldId id="310" r:id="rId19"/>
    <p:sldId id="311" r:id="rId20"/>
    <p:sldId id="312" r:id="rId21"/>
    <p:sldId id="319" r:id="rId22"/>
    <p:sldId id="292" r:id="rId23"/>
    <p:sldId id="313" r:id="rId24"/>
    <p:sldId id="314" r:id="rId25"/>
    <p:sldId id="315" r:id="rId26"/>
    <p:sldId id="316" r:id="rId27"/>
    <p:sldId id="293" r:id="rId28"/>
    <p:sldId id="318" r:id="rId29"/>
    <p:sldId id="317" r:id="rId30"/>
    <p:sldId id="294" r:id="rId31"/>
    <p:sldId id="298" r:id="rId32"/>
  </p:sldIdLst>
  <p:sldSz cx="12192000" cy="6858000"/>
  <p:notesSz cx="6858000" cy="9144000"/>
  <p:embeddedFontLst>
    <p:embeddedFont>
      <p:font typeface="Algerian" panose="04020705040A02060702" pitchFamily="82" charset="0"/>
      <p:regular r:id="rId34"/>
    </p:embeddedFont>
    <p:embeddedFont>
      <p:font typeface="Arial Black" panose="020B0A04020102020204" pitchFamily="34" charset="0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1347CAF7-F204-4211-8FE1-33932034486D}">
          <p14:sldIdLst>
            <p14:sldId id="256"/>
            <p14:sldId id="286"/>
            <p14:sldId id="258"/>
            <p14:sldId id="260"/>
            <p14:sldId id="261"/>
            <p14:sldId id="295"/>
            <p14:sldId id="296"/>
            <p14:sldId id="301"/>
            <p14:sldId id="287"/>
            <p14:sldId id="303"/>
            <p14:sldId id="304"/>
            <p14:sldId id="320"/>
            <p14:sldId id="308"/>
            <p14:sldId id="305"/>
            <p14:sldId id="307"/>
            <p14:sldId id="309"/>
            <p14:sldId id="321"/>
            <p14:sldId id="310"/>
            <p14:sldId id="311"/>
            <p14:sldId id="312"/>
            <p14:sldId id="319"/>
            <p14:sldId id="292"/>
            <p14:sldId id="313"/>
            <p14:sldId id="314"/>
            <p14:sldId id="315"/>
            <p14:sldId id="316"/>
            <p14:sldId id="293"/>
            <p14:sldId id="318"/>
            <p14:sldId id="317"/>
            <p14:sldId id="294"/>
            <p14:sldId id="298"/>
          </p14:sldIdLst>
        </p14:section>
        <p14:section name="Untitled Section" id="{1CAC8250-4044-449E-B3B8-C43E9F70E82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846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192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4748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372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38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0742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131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8423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87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4584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0894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1853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925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5558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30</a:t>
            </a:fld>
            <a:endParaRPr lang="en-IN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9" name="Google Shape;99;p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1873" y="3500036"/>
            <a:ext cx="1126617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Airbnb Pricing Analysis Across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Major Indian Cities</a:t>
            </a:r>
            <a:endParaRPr sz="2800" b="1" i="0" u="none" strike="noStrike" cap="none" dirty="0">
              <a:solidFill>
                <a:srgbClr val="FF0000"/>
              </a:solidFill>
              <a:latin typeface="Arial Black" panose="020B0A04020102020204" pitchFamily="34" charset="0"/>
              <a:sym typeface="Arial" panose="020B0604020202020204"/>
            </a:endParaRPr>
          </a:p>
        </p:txBody>
      </p:sp>
      <p:sp>
        <p:nvSpPr>
          <p:cNvPr id="13" name="TextBox 1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42969" y="2733365"/>
            <a:ext cx="54228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PRESENTATION ON</a:t>
            </a:r>
            <a:endParaRPr lang="en-IN"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71535" y="4818215"/>
            <a:ext cx="6164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</a:rPr>
              <a:t>Presented By: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Name   : Yaddanapudi V S S Surya Teja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Batch   : 456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Branch : DILSUKHNAGAR</a:t>
            </a:r>
            <a:endParaRPr lang="en-IN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5B1E87D4-0373-A511-DB18-CFF74438CE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470" y="6289041"/>
            <a:ext cx="2802194" cy="5975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75D644-E74D-5ECE-0E0A-A203CB610F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1317" y="3170632"/>
            <a:ext cx="2563044" cy="388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6077" y="353961"/>
            <a:ext cx="10825317" cy="4770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My Name is Yaddanapudi V S S Surya Teja. 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 have completed my Bachelor of Technology in Computer Science and Engineering.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LinkedIn : </a:t>
            </a:r>
            <a:r>
              <a:rPr lang="en-US" sz="2400" b="1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https://www.linkedin.com/in/suryateja-yaddanapudi/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GitHub : </a:t>
            </a:r>
            <a:r>
              <a:rPr lang="en-US" sz="2400" b="1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https://github.com/DudeAlpha007</a:t>
            </a:r>
          </a:p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2400" b="1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Agenda   </a:t>
            </a:r>
            <a:endParaRPr sz="4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Problem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The Dataset and Target Variable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Table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 Preprocessing</a:t>
            </a:r>
            <a:endParaRPr lang="en-US" sz="2000" b="1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Uni, Bi, Multi Variate Analysis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1999" cy="116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40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4000" b="1" dirty="0">
              <a:solidFill>
                <a:srgbClr val="FF0000"/>
              </a:solidFill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37A7D-3549-A716-7EF4-4A6D3AD38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3291" y="1138951"/>
            <a:ext cx="1165122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Airbnb is a global online marketplace that connects property owners with travelers seeking short-term accommodation across cities and countries.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With the rapid growth of online booking platforms, rental prices vary significantly even within the same city for seemingly similar properties.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This price variation creates confusion for travelers and makes it difficult to understand what factors truly influence listing prices.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Data-driven analysis can help uncover hidden patterns behind pricing, availability, and property features.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This project focuses on analyzing Airbnb listings data across major Indian cities to derive meaningful insights using data analytics techniques.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63B49-451B-D545-A247-6C49607BCC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254052" y="1312386"/>
            <a:ext cx="4542929" cy="4233227"/>
          </a:xfrm>
          <a:prstGeom prst="rect">
            <a:avLst/>
          </a:prstGeom>
        </p:spPr>
      </p:pic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09828" y="1004587"/>
            <a:ext cx="11188881" cy="522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 algn="l">
              <a:lnSpc>
                <a:spcPct val="150000"/>
              </a:lnSpc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• Airbnb users face difficulty in identifying value-for-money listings due to large price variations across similar properties.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• Properties with comparable location, capacity, and amenities are often priced very differently without clear justification.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• Travelers struggle to understand which features genuinely influence higher prices and which do not.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• Hosts lack data-backed insights to price their properties competitively in the market.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• The absence of structured pricing insights reduces transparency and limits data-driven decision-making.</a:t>
            </a:r>
            <a:endParaRPr lang="en-US" sz="23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5404"/>
            <a:ext cx="12192000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Project Objectives</a:t>
            </a:r>
            <a:br>
              <a:rPr lang="en-IN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411D5-3119-C430-32EF-9D9EEB872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9432" y="1443841"/>
            <a:ext cx="1095313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why Airbnb prices vary so much within and across cities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which factors truly influence listing prices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weekend and weekday pricing behavior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how location, amenities, capacity, and ratings affect price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 listings that are overpriced or offer better value for money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guests like Rahul make smarter booking decisions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insights that can help hosts price their listings more effectively</a:t>
            </a:r>
          </a:p>
        </p:txBody>
      </p:sp>
    </p:spTree>
    <p:extLst>
      <p:ext uri="{BB962C8B-B14F-4D97-AF65-F5344CB8AC3E}">
        <p14:creationId xmlns:p14="http://schemas.microsoft.com/office/powerpoint/2010/main" val="237728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THE DATASET &amp; TARGET VARIABLE</a:t>
            </a:r>
            <a:br>
              <a:rPr lang="en-IN" sz="32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721901" y="1089860"/>
            <a:ext cx="11116137" cy="531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Dataset collected using web scraping from Airbnb listings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Covers four major Indian metro cities:</a:t>
            </a:r>
            <a:br>
              <a:rPr lang="en-US" sz="2000" dirty="0"/>
            </a:br>
            <a:r>
              <a:rPr lang="en-US" sz="2000" b="1" dirty="0"/>
              <a:t>Hyderabad, Bangalore, Mumbai, and Delhi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Includes both </a:t>
            </a:r>
            <a:r>
              <a:rPr lang="en-US" sz="2000" b="1" dirty="0"/>
              <a:t>weekend and weekday</a:t>
            </a:r>
            <a:r>
              <a:rPr lang="en-US" sz="2000" dirty="0"/>
              <a:t> booking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row represents a single Airbnb listing for a specific date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Target variable: </a:t>
            </a:r>
            <a:r>
              <a:rPr lang="en-US" sz="2000" b="1" dirty="0"/>
              <a:t>Price per Night (₹)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Price is analyzed to understand how different factors influence listing costs</a:t>
            </a:r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r>
              <a:rPr lang="en-US" sz="2000" b="1" dirty="0"/>
              <a:t>Target Variable Explanation (simple):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Price per Night</a:t>
            </a:r>
            <a:r>
              <a:rPr lang="en-US" sz="2000" dirty="0"/>
              <a:t> reflects what a guest actually pays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Used to evaluate value for money and pricing behavior</a:t>
            </a:r>
          </a:p>
        </p:txBody>
      </p:sp>
    </p:spTree>
    <p:extLst>
      <p:ext uri="{BB962C8B-B14F-4D97-AF65-F5344CB8AC3E}">
        <p14:creationId xmlns:p14="http://schemas.microsoft.com/office/powerpoint/2010/main" val="397606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19" y="18255"/>
            <a:ext cx="10010777" cy="74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Summary of the table</a:t>
            </a:r>
            <a:b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235F3-D572-398F-2C2E-4A3A6ED7B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904" y="953729"/>
            <a:ext cx="6565491" cy="464082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Final cleaned dataset prepared after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Contains listings from four metro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Each row represents one listing for a specific date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Dataset is structured and ready for EDA and hypothesis testing</a:t>
            </a:r>
          </a:p>
          <a:p>
            <a:r>
              <a:rPr lang="en-US" sz="2100" b="1" dirty="0"/>
              <a:t>Key Highlights: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Total listings: </a:t>
            </a:r>
            <a:r>
              <a:rPr lang="en-US" sz="2100" b="1" dirty="0"/>
              <a:t>~2,100+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Cities: </a:t>
            </a:r>
            <a:r>
              <a:rPr lang="en-US" sz="2100" b="1" dirty="0"/>
              <a:t>Hyderabad, Bangalore, Mumbai, Delhi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Target variable: </a:t>
            </a:r>
            <a:r>
              <a:rPr lang="en-US" sz="2100" b="1" dirty="0"/>
              <a:t>Price per Night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Mix of numeric and categorical features</a:t>
            </a:r>
          </a:p>
          <a:p>
            <a:endParaRPr lang="en-IN" sz="21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F070417-3639-1649-7206-933F0DE5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141" y="766916"/>
            <a:ext cx="3696715" cy="551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1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code">
            <a:extLst>
              <a:ext uri="{FF2B5EF4-FFF2-40B4-BE49-F238E27FC236}">
                <a16:creationId xmlns:a16="http://schemas.microsoft.com/office/drawing/2014/main" id="{8BD9F6E4-FC2A-1CB2-BE8C-A78A137D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459" y="0"/>
            <a:ext cx="2664542" cy="1837676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BFAD2C-F144-97CC-D224-8FC3468D8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4581833" cy="165023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FEAE2-3718-EC57-CD32-0F5D5C38A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13935"/>
            <a:ext cx="12192000" cy="47440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Data Preprocessing</a:t>
            </a:r>
            <a:br>
              <a:rPr lang="en-IN" sz="32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30F80B-9693-C733-8CEB-D555F822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091" y="1239063"/>
            <a:ext cx="987158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Airbnb data contained missing, inconsistent, and unstructured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 values were handled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logical, context-based rules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Structural missing values (e.g., new listings without reviews) were treated separately from actual nulls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 were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intentionally preserved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reflect real luxury and premium listings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dataset was cleaned, structured, and made ready for EDA and 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3045139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UNIVARIATE ANALYSIS: PRICE DISTRIBUTION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30F80B-9693-C733-8CEB-D555F822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33156" y="860356"/>
            <a:ext cx="3267231" cy="531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2000" b="1" dirty="0"/>
              <a:t>Interpretation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normalized Airbnb price distribution is </a:t>
            </a:r>
            <a:r>
              <a:rPr lang="en-US" sz="1600" b="1" dirty="0"/>
              <a:t>strongly right-skewed</a:t>
            </a:r>
            <a:r>
              <a:rPr lang="en-US" sz="1600" dirty="0"/>
              <a:t>, with the majority of listings clustered in the </a:t>
            </a:r>
            <a:r>
              <a:rPr lang="en-US" sz="1600" b="1" dirty="0"/>
              <a:t>low to mid price range</a:t>
            </a:r>
            <a:r>
              <a:rPr lang="en-US" sz="1600" dirty="0"/>
              <a:t> and a long tail of high-priced listings.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Most listings fall roughly between </a:t>
            </a:r>
            <a:r>
              <a:rPr lang="en-US" sz="1600" b="1" dirty="0"/>
              <a:t>₹1,500–₹4,000 per night</a:t>
            </a:r>
            <a:r>
              <a:rPr lang="en-US" sz="1600" dirty="0"/>
              <a:t>, while a small number of premium and luxury listings extend beyond </a:t>
            </a:r>
            <a:r>
              <a:rPr lang="en-US" sz="1600" b="1" dirty="0"/>
              <a:t>₹10,000+ per night</a:t>
            </a:r>
            <a:r>
              <a:rPr lang="en-US" sz="1600" dirty="0"/>
              <a:t>, creating the long right 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This skewness indicates that </a:t>
            </a:r>
            <a:r>
              <a:rPr lang="en-US" sz="1600" b="1" dirty="0"/>
              <a:t>average (mean) prices are inflated by a small luxury segment</a:t>
            </a:r>
            <a:r>
              <a:rPr lang="en-US" sz="1600" dirty="0"/>
              <a:t>, whereas the </a:t>
            </a:r>
            <a:r>
              <a:rPr lang="en-US" sz="1600" b="1" dirty="0"/>
              <a:t>median price better represents a typical booking experience </a:t>
            </a:r>
            <a:r>
              <a:rPr lang="en-US" sz="1600" dirty="0"/>
              <a:t>for most users.</a:t>
            </a:r>
          </a:p>
        </p:txBody>
      </p:sp>
      <p:pic>
        <p:nvPicPr>
          <p:cNvPr id="3" name="Picture 2" descr="A graph of airbnb distribution&#10;&#10;AI-generated content may be incorrect.">
            <a:extLst>
              <a:ext uri="{FF2B5EF4-FFF2-40B4-BE49-F238E27FC236}">
                <a16:creationId xmlns:a16="http://schemas.microsoft.com/office/drawing/2014/main" id="{F0CE57A4-0E78-5B77-1137-7916B0156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3" y="955003"/>
            <a:ext cx="8006464" cy="533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0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UNIVARIATE ANALYSIS: PRICE DISTRIBUTION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 descr="A pie chart of property type&#10;&#10;AI-generated content may be incorrect.">
            <a:extLst>
              <a:ext uri="{FF2B5EF4-FFF2-40B4-BE49-F238E27FC236}">
                <a16:creationId xmlns:a16="http://schemas.microsoft.com/office/drawing/2014/main" id="{6CBB4512-4205-78DC-EB0B-4466BE9E5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3" y="1047391"/>
            <a:ext cx="4857135" cy="490599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9CA8279-8BCE-FAC1-FFDD-3F5E8ECB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795" y="1379298"/>
            <a:ext cx="6265379" cy="424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b="1" dirty="0"/>
              <a:t>Interpretation: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Entire Place listings dominate the dataset, accounting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~71.5%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all Airbnb listings.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Private Rooms form the second largest segment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~21.3%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significant budget-conscious or solo-traveler market.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Hotel-style listings are limited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~6.1%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showing Airbnb’s positioning as an alternative to traditional hotels.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Shared Spaces are negligible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~1.1%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suggesting low user preference for shared accommodation in metro cities.</a:t>
            </a:r>
          </a:p>
        </p:txBody>
      </p:sp>
    </p:spTree>
    <p:extLst>
      <p:ext uri="{BB962C8B-B14F-4D97-AF65-F5344CB8AC3E}">
        <p14:creationId xmlns:p14="http://schemas.microsoft.com/office/powerpoint/2010/main" val="4252304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-39497"/>
            <a:ext cx="7612330" cy="58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BIVARIATE ANALYSIS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950DA96-E7CC-DED0-FDAC-174A86682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242" y="442449"/>
            <a:ext cx="4463758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dirty="0"/>
              <a:t>Interpretation (Weekend vs Weekday Pricing by City)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Hyderabad: </a:t>
            </a:r>
            <a:r>
              <a:rPr lang="en-US" dirty="0"/>
              <a:t>Weekday prices remain relatively lower, while </a:t>
            </a:r>
            <a:r>
              <a:rPr lang="en-US" b="1" dirty="0"/>
              <a:t>weekend prices increase sharply</a:t>
            </a:r>
            <a:r>
              <a:rPr lang="en-US" dirty="0"/>
              <a:t>, indicating strong leisure-driven demand concentrated on weekends.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Bangalore: Weekday prices are stable and slightly lower</a:t>
            </a:r>
            <a:r>
              <a:rPr lang="en-US" dirty="0"/>
              <a:t>, with a </a:t>
            </a:r>
            <a:r>
              <a:rPr lang="en-US" b="1" dirty="0"/>
              <a:t>moderate weekend uplift</a:t>
            </a:r>
            <a:r>
              <a:rPr lang="en-US" dirty="0"/>
              <a:t>, reflecting a balanced mix of business (weekday) and leisure (weekend) stays.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Delhi: Weekday and weekend prices are close</a:t>
            </a:r>
            <a:r>
              <a:rPr lang="en-US" dirty="0"/>
              <a:t>, with only a </a:t>
            </a:r>
            <a:r>
              <a:rPr lang="en-US" b="1" dirty="0"/>
              <a:t>small weekend increase</a:t>
            </a:r>
            <a:r>
              <a:rPr lang="en-US" dirty="0"/>
              <a:t>, suggesting consistent demand across the week.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Mumbai: Weekday prices are higher than weekend prices</a:t>
            </a:r>
            <a:r>
              <a:rPr lang="en-US" dirty="0"/>
              <a:t>, highlighting strong business-driven weekday demand and comparatively weaker leisure demand on weekends.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Overall Insight:</a:t>
            </a:r>
            <a:r>
              <a:rPr lang="en-US" dirty="0"/>
              <a:t>The weekday–weekend price relationship varies by city, driven by </a:t>
            </a:r>
            <a:r>
              <a:rPr lang="en-US" b="1" dirty="0"/>
              <a:t>local demand structure</a:t>
            </a:r>
            <a:r>
              <a:rPr lang="en-US" dirty="0"/>
              <a:t> (business vs leisure) rather than a uniform pricing pattern.</a:t>
            </a:r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A76D59E9-C316-01A6-E442-7DA3C25E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6803"/>
            <a:ext cx="3667160" cy="2685210"/>
          </a:xfrm>
          <a:prstGeom prst="rect">
            <a:avLst/>
          </a:prstGeom>
        </p:spPr>
      </p:pic>
      <p:pic>
        <p:nvPicPr>
          <p:cNvPr id="6" name="Picture 5" descr="A graph of a comparison of prices&#10;&#10;AI-generated content may be incorrect.">
            <a:extLst>
              <a:ext uri="{FF2B5EF4-FFF2-40B4-BE49-F238E27FC236}">
                <a16:creationId xmlns:a16="http://schemas.microsoft.com/office/drawing/2014/main" id="{DBE6ECC9-ECC7-EDB1-452F-EB3E78E51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167" y="1006803"/>
            <a:ext cx="3667164" cy="2685211"/>
          </a:xfrm>
          <a:prstGeom prst="rect">
            <a:avLst/>
          </a:prstGeom>
        </p:spPr>
      </p:pic>
      <p:pic>
        <p:nvPicPr>
          <p:cNvPr id="9" name="Picture 8" descr="A graph of a comparison of a number of different prices&#10;&#10;AI-generated content may be incorrect.">
            <a:extLst>
              <a:ext uri="{FF2B5EF4-FFF2-40B4-BE49-F238E27FC236}">
                <a16:creationId xmlns:a16="http://schemas.microsoft.com/office/drawing/2014/main" id="{75B10BD5-677B-F17B-306A-86F587D25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38494"/>
            <a:ext cx="3667160" cy="2685210"/>
          </a:xfrm>
          <a:prstGeom prst="rect">
            <a:avLst/>
          </a:prstGeom>
        </p:spPr>
      </p:pic>
      <p:pic>
        <p:nvPicPr>
          <p:cNvPr id="11" name="Picture 10" descr="A graph of a comparison of prices&#10;&#10;AI-generated content may be incorrect.">
            <a:extLst>
              <a:ext uri="{FF2B5EF4-FFF2-40B4-BE49-F238E27FC236}">
                <a16:creationId xmlns:a16="http://schemas.microsoft.com/office/drawing/2014/main" id="{6513F6BE-A466-A5B4-BE22-98E1D1274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167" y="3802125"/>
            <a:ext cx="3667163" cy="27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2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BIVARIATE ANALYSIS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A01966A6-D4FA-D031-956B-C67367DB9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67484" y="1022540"/>
            <a:ext cx="4424516" cy="512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600" b="1" dirty="0"/>
              <a:t>Interpretation: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Bangalore:</a:t>
            </a:r>
            <a:br>
              <a:rPr lang="en-US" sz="1400" dirty="0"/>
            </a:br>
            <a:r>
              <a:rPr lang="en-US" sz="1400" dirty="0"/>
              <a:t>Prices are concentrated in the lower range with </a:t>
            </a:r>
            <a:r>
              <a:rPr lang="en-US" sz="1400" b="1" dirty="0"/>
              <a:t>limited high-end outliers</a:t>
            </a:r>
            <a:r>
              <a:rPr lang="en-US" sz="1400" dirty="0"/>
              <a:t>, indicating a largely budget-to-midrange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Delhi:</a:t>
            </a:r>
            <a:br>
              <a:rPr lang="en-US" sz="1400" dirty="0"/>
            </a:br>
            <a:r>
              <a:rPr lang="en-US" sz="1400" dirty="0"/>
              <a:t>Slightly higher median prices than Bangalore, with </a:t>
            </a:r>
            <a:r>
              <a:rPr lang="en-US" sz="1400" b="1" dirty="0"/>
              <a:t>moderate upper outliers</a:t>
            </a:r>
            <a:r>
              <a:rPr lang="en-US" sz="1400" dirty="0"/>
              <a:t>, suggesting a mixed market with controlled luxury presence.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Hyderabad:</a:t>
            </a:r>
            <a:br>
              <a:rPr lang="en-US" sz="1400" dirty="0"/>
            </a:br>
            <a:r>
              <a:rPr lang="en-US" sz="1400" dirty="0"/>
              <a:t>Median prices are comparable to Delhi, but </a:t>
            </a:r>
            <a:r>
              <a:rPr lang="en-US" sz="1400" b="1" dirty="0"/>
              <a:t>greater price spread and more high-value outliers</a:t>
            </a:r>
            <a:r>
              <a:rPr lang="en-US" sz="1400" dirty="0"/>
              <a:t> indicate emerging premium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Mumbai:</a:t>
            </a:r>
            <a:br>
              <a:rPr lang="en-US" sz="1400" dirty="0"/>
            </a:br>
            <a:r>
              <a:rPr lang="en-US" sz="1400" dirty="0"/>
              <a:t>Clearly stands out with the </a:t>
            </a:r>
            <a:r>
              <a:rPr lang="en-US" sz="1400" b="1" dirty="0"/>
              <a:t>highest median prices and extreme outliers</a:t>
            </a:r>
            <a:r>
              <a:rPr lang="en-US" sz="1400" dirty="0"/>
              <a:t>, reflecting strong premium positioning and location-driven pricing.</a:t>
            </a:r>
          </a:p>
          <a:p>
            <a:pPr marL="114300" indent="0">
              <a:buNone/>
            </a:pPr>
            <a:r>
              <a:rPr lang="en-US" sz="1400" b="1" dirty="0"/>
              <a:t>Overall Insight:</a:t>
            </a:r>
            <a:br>
              <a:rPr lang="en-US" sz="1400" dirty="0"/>
            </a:br>
            <a:r>
              <a:rPr lang="en-US" sz="1400" dirty="0"/>
              <a:t>Price levels and dispersion increase significantly from Bangalore → Delhi → Hyderabad → Mumbai, highlighting </a:t>
            </a:r>
            <a:r>
              <a:rPr lang="en-US" sz="1400" b="1" dirty="0"/>
              <a:t>city-specific demand intensity and market maturity</a:t>
            </a:r>
            <a:r>
              <a:rPr lang="en-US" sz="1400" dirty="0"/>
              <a:t>.</a:t>
            </a:r>
          </a:p>
        </p:txBody>
      </p:sp>
      <p:pic>
        <p:nvPicPr>
          <p:cNvPr id="4" name="Picture 3" descr="A graph of a number of airbnb distribution&#10;&#10;AI-generated content may be incorrect.">
            <a:extLst>
              <a:ext uri="{FF2B5EF4-FFF2-40B4-BE49-F238E27FC236}">
                <a16:creationId xmlns:a16="http://schemas.microsoft.com/office/drawing/2014/main" id="{CA0F8BB5-D1CE-ABD2-70C5-FFE426B5B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24" y="1118464"/>
            <a:ext cx="7120029" cy="52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7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BIVARIATE ANALYSIS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2C2EA69-433B-A2ED-B820-C47E026CA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987" y="1045536"/>
            <a:ext cx="4326193" cy="4943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114300" indent="0">
              <a:buNone/>
            </a:pPr>
            <a:r>
              <a:rPr lang="en-US" sz="1600" b="1" dirty="0"/>
              <a:t>Interpretation: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Positive but weak relationship:</a:t>
            </a:r>
            <a:br>
              <a:rPr lang="en-US" sz="1600" dirty="0"/>
            </a:br>
            <a:r>
              <a:rPr lang="en-US" sz="1600" dirty="0"/>
              <a:t>Prices tend to increase as amenities increase, but the trend is </a:t>
            </a:r>
            <a:r>
              <a:rPr lang="en-US" sz="1600" b="1" dirty="0"/>
              <a:t>not strongly linear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Diminishing returns effect:</a:t>
            </a:r>
            <a:br>
              <a:rPr lang="en-US" sz="1600" dirty="0"/>
            </a:br>
            <a:r>
              <a:rPr lang="en-US" sz="1600" dirty="0"/>
              <a:t>Beyond a moderate amenities count, </a:t>
            </a:r>
            <a:r>
              <a:rPr lang="en-US" sz="1600" b="1" dirty="0"/>
              <a:t>additional amenities do not proportionally increase price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High-price listings exist at medium amenities:</a:t>
            </a:r>
            <a:br>
              <a:rPr lang="en-US" sz="1600" dirty="0"/>
            </a:br>
            <a:r>
              <a:rPr lang="en-US" sz="1600" dirty="0"/>
              <a:t>Several expensive listings cluster around </a:t>
            </a:r>
            <a:r>
              <a:rPr lang="en-US" sz="1600" b="1" dirty="0"/>
              <a:t>average amenities levels</a:t>
            </a:r>
            <a:r>
              <a:rPr lang="en-US" sz="1600" dirty="0"/>
              <a:t>, showing that amenities alone don’t justify premium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Other factors dominate pricing:</a:t>
            </a:r>
            <a:br>
              <a:rPr lang="en-US" sz="1600" dirty="0"/>
            </a:br>
            <a:r>
              <a:rPr lang="en-US" sz="1600" dirty="0"/>
              <a:t>Location, demand timing, and property type play a </a:t>
            </a:r>
            <a:r>
              <a:rPr lang="en-US" sz="1600" b="1" dirty="0"/>
              <a:t>larger role than amenities count alone</a:t>
            </a:r>
            <a:r>
              <a:rPr lang="en-US" sz="1600" dirty="0"/>
              <a:t>.</a:t>
            </a:r>
          </a:p>
        </p:txBody>
      </p:sp>
      <p:pic>
        <p:nvPicPr>
          <p:cNvPr id="3" name="Picture 2" descr="A graph of blue dots&#10;&#10;AI-generated content may be incorrect.">
            <a:extLst>
              <a:ext uri="{FF2B5EF4-FFF2-40B4-BE49-F238E27FC236}">
                <a16:creationId xmlns:a16="http://schemas.microsoft.com/office/drawing/2014/main" id="{C6B11961-27AE-DFA1-B804-FD3D3482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4" y="1028506"/>
            <a:ext cx="7193916" cy="529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4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BIVARIATE ANALYSIS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9A24C95-BD91-114C-DA1C-6C6C2FC58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77317" y="1156335"/>
            <a:ext cx="4330184" cy="472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600" b="1" dirty="0"/>
              <a:t>Interpretation: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Moderate positive relationship:</a:t>
            </a:r>
            <a:br>
              <a:rPr lang="en-US" sz="1600" dirty="0"/>
            </a:br>
            <a:r>
              <a:rPr lang="en-US" sz="1600" dirty="0"/>
              <a:t>Listings with higher guest capacity generally charge higher prices, but the increase is </a:t>
            </a:r>
            <a:r>
              <a:rPr lang="en-US" sz="1600" b="1" dirty="0"/>
              <a:t>not proportional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Strong clustering at low capacity:</a:t>
            </a:r>
            <a:br>
              <a:rPr lang="en-US" sz="1600" dirty="0"/>
            </a:br>
            <a:r>
              <a:rPr lang="en-US" sz="1600" dirty="0"/>
              <a:t>Most listings accommodate </a:t>
            </a:r>
            <a:r>
              <a:rPr lang="en-US" sz="1600" b="1" dirty="0"/>
              <a:t>1–4 guests</a:t>
            </a:r>
            <a:r>
              <a:rPr lang="en-US" sz="1600" dirty="0"/>
              <a:t>, where prices vary widely, indicating other pricing drivers at play.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High-capacity ≠ always expensive:</a:t>
            </a:r>
            <a:br>
              <a:rPr lang="en-US" sz="1600" dirty="0"/>
            </a:br>
            <a:r>
              <a:rPr lang="en-US" sz="1600" dirty="0"/>
              <a:t>Several high-capacity listings appear at </a:t>
            </a:r>
            <a:r>
              <a:rPr lang="en-US" sz="1600" b="1" dirty="0"/>
              <a:t>mid or even low prices</a:t>
            </a:r>
            <a:r>
              <a:rPr lang="en-US" sz="1600" dirty="0"/>
              <a:t>, suggesting shared spaces or budget group accommodations.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Capacity is a structural factor, not a premium driver:</a:t>
            </a:r>
            <a:br>
              <a:rPr lang="en-US" sz="1600" dirty="0"/>
            </a:br>
            <a:r>
              <a:rPr lang="en-US" sz="1600" dirty="0"/>
              <a:t>Capacity sets a </a:t>
            </a:r>
            <a:r>
              <a:rPr lang="en-US" sz="1600" b="1" dirty="0"/>
              <a:t>baseline price range</a:t>
            </a:r>
            <a:r>
              <a:rPr lang="en-US" sz="1600" dirty="0"/>
              <a:t>, while location, demand, and property type drive the actual premium.</a:t>
            </a:r>
          </a:p>
        </p:txBody>
      </p:sp>
      <p:pic>
        <p:nvPicPr>
          <p:cNvPr id="3" name="Picture 2" descr="A graph of blue dots&#10;&#10;AI-generated content may be incorrect.">
            <a:extLst>
              <a:ext uri="{FF2B5EF4-FFF2-40B4-BE49-F238E27FC236}">
                <a16:creationId xmlns:a16="http://schemas.microsoft.com/office/drawing/2014/main" id="{BAB00B29-DE1A-5429-9E7C-274322886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3" y="925506"/>
            <a:ext cx="7347251" cy="540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2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BIVARIATE ANALYSIS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9A24C95-BD91-114C-DA1C-6C6C2FC58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69162" y="1257302"/>
            <a:ext cx="4330184" cy="450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600" b="1" dirty="0"/>
              <a:t>Interpretation: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Weak positive relationship:</a:t>
            </a:r>
            <a:br>
              <a:rPr lang="en-US" sz="1600" dirty="0"/>
            </a:br>
            <a:r>
              <a:rPr lang="en-US" sz="1600" dirty="0"/>
              <a:t>Higher-rated listings tend to have slightly higher prices, but the relationship is </a:t>
            </a:r>
            <a:r>
              <a:rPr lang="en-US" sz="1600" b="1" dirty="0"/>
              <a:t>not strong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High ratings across all price levels:</a:t>
            </a:r>
            <a:br>
              <a:rPr lang="en-US" sz="1600" dirty="0"/>
            </a:br>
            <a:r>
              <a:rPr lang="en-US" sz="1600" dirty="0"/>
              <a:t>Listings rated </a:t>
            </a:r>
            <a:r>
              <a:rPr lang="en-US" sz="1600" b="1" dirty="0"/>
              <a:t>4.5–5.0</a:t>
            </a:r>
            <a:r>
              <a:rPr lang="en-US" sz="1600" dirty="0"/>
              <a:t> appear in both budget and premium ranges, showing that good ratings are </a:t>
            </a:r>
            <a:r>
              <a:rPr lang="en-US" sz="1600" b="1" dirty="0"/>
              <a:t>not exclusive to expensive stays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Low-rated listings are rare:</a:t>
            </a:r>
            <a:br>
              <a:rPr lang="en-US" sz="1600" dirty="0"/>
            </a:br>
            <a:r>
              <a:rPr lang="en-US" sz="1600" dirty="0"/>
              <a:t>Very few listings fall below </a:t>
            </a:r>
            <a:r>
              <a:rPr lang="en-US" sz="1600" b="1" dirty="0"/>
              <a:t>4.0</a:t>
            </a:r>
            <a:r>
              <a:rPr lang="en-US" sz="1600" dirty="0"/>
              <a:t>, indicating a generally high-quality marketplace or rating inflation.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Ratings act as a trust qualifier, not a price driver:</a:t>
            </a:r>
            <a:br>
              <a:rPr lang="en-US" sz="1600" dirty="0"/>
            </a:br>
            <a:r>
              <a:rPr lang="en-US" sz="1600" dirty="0"/>
              <a:t>Ratings help justify prices but </a:t>
            </a:r>
            <a:r>
              <a:rPr lang="en-US" sz="1600" b="1" dirty="0"/>
              <a:t>do not directly determine premium pricing</a:t>
            </a:r>
            <a:r>
              <a:rPr lang="en-US" sz="1600" dirty="0"/>
              <a:t>.</a:t>
            </a:r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809B85E5-DF5A-7622-BACB-69EFC50FE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70" y="1053325"/>
            <a:ext cx="6879590" cy="50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26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</a:t>
            </a: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 ANALYSIS 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30F80B-9693-C733-8CEB-D555F822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7183" y="1522595"/>
            <a:ext cx="5161935" cy="450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800" b="1" dirty="0"/>
              <a:t>Interpretation: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Mumbai = premium &amp; trust-driven market</a:t>
            </a:r>
            <a:br>
              <a:rPr lang="en-US" sz="1600" dirty="0"/>
            </a:br>
            <a:r>
              <a:rPr lang="en-US" sz="1600" dirty="0"/>
              <a:t>Highest </a:t>
            </a:r>
            <a:r>
              <a:rPr lang="en-US" sz="1600" b="1" dirty="0"/>
              <a:t>Price Level</a:t>
            </a:r>
            <a:r>
              <a:rPr lang="en-US" sz="1600" dirty="0"/>
              <a:t> and </a:t>
            </a:r>
            <a:r>
              <a:rPr lang="en-US" sz="1600" b="1" dirty="0"/>
              <a:t>Trust Dependence</a:t>
            </a:r>
            <a:r>
              <a:rPr lang="en-US" sz="1600" dirty="0"/>
              <a:t>, with lower weekend sensitivity, indicating strong </a:t>
            </a:r>
            <a:r>
              <a:rPr lang="en-US" sz="1600" b="1" dirty="0"/>
              <a:t>weekday business demand</a:t>
            </a:r>
            <a:r>
              <a:rPr lang="en-US" sz="1600" dirty="0"/>
              <a:t> and reputation-based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Hyderabad = leisure-driven &amp; capacity-oriented</a:t>
            </a:r>
            <a:br>
              <a:rPr lang="en-US" sz="1600" dirty="0"/>
            </a:br>
            <a:r>
              <a:rPr lang="en-US" sz="1600" dirty="0"/>
              <a:t>Extremely high </a:t>
            </a:r>
            <a:r>
              <a:rPr lang="en-US" sz="1600" b="1" dirty="0"/>
              <a:t>Weekend Sensitivity</a:t>
            </a:r>
            <a:r>
              <a:rPr lang="en-US" sz="1600" dirty="0"/>
              <a:t> and </a:t>
            </a:r>
            <a:r>
              <a:rPr lang="en-US" sz="1600" b="1" dirty="0"/>
              <a:t>Space Premium</a:t>
            </a:r>
            <a:r>
              <a:rPr lang="en-US" sz="1600" dirty="0"/>
              <a:t>, showing demand spikes driven by leisure travel and larger group stays.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Delhi = amenities-led pricing</a:t>
            </a:r>
            <a:br>
              <a:rPr lang="en-US" sz="1600" dirty="0"/>
            </a:br>
            <a:r>
              <a:rPr lang="en-US" sz="1600" dirty="0"/>
              <a:t>Strong </a:t>
            </a:r>
            <a:r>
              <a:rPr lang="en-US" sz="1600" b="1" dirty="0"/>
              <a:t>Amenities Value Index</a:t>
            </a:r>
            <a:r>
              <a:rPr lang="en-US" sz="1600" dirty="0"/>
              <a:t> with moderate weekend sensitivity, suggesting guests pay more for features rather than timing alone.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Bangalore = balanced, value-conscious market</a:t>
            </a:r>
            <a:br>
              <a:rPr lang="en-US" sz="1600" dirty="0"/>
            </a:br>
            <a:r>
              <a:rPr lang="en-US" sz="1600" dirty="0"/>
              <a:t>Moderate scores across all dimensions, reflecting a stable mix of business and leisure demand without extreme pricing behavior.</a:t>
            </a: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99993667-06B7-09E6-6C9E-0B08BC010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36" y="983131"/>
            <a:ext cx="70497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Multidimensional Comparison of Pricing Drivers Across Cities</a:t>
            </a:r>
          </a:p>
        </p:txBody>
      </p:sp>
      <p:pic>
        <p:nvPicPr>
          <p:cNvPr id="4" name="Picture 3" descr="A diagram of a fingerprint&#10;&#10;AI-generated content may be incorrect.">
            <a:extLst>
              <a:ext uri="{FF2B5EF4-FFF2-40B4-BE49-F238E27FC236}">
                <a16:creationId xmlns:a16="http://schemas.microsoft.com/office/drawing/2014/main" id="{C7D2FA08-CB4E-FB98-4B59-6FF763E5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2" y="1522595"/>
            <a:ext cx="5822353" cy="502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13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</a:t>
            </a: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 ANALYSIS 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30F80B-9693-C733-8CEB-D555F822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93858" y="1390908"/>
            <a:ext cx="4503174" cy="4750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2000" b="1" dirty="0"/>
              <a:t>Interpretation: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Price increases with guest capacity across all amenity levels</a:t>
            </a:r>
            <a:r>
              <a:rPr lang="en-US" sz="1800" dirty="0"/>
              <a:t>, confirming capacity as a primary pricing driver.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High-amenity listings show clear price premiums</a:t>
            </a:r>
            <a:r>
              <a:rPr lang="en-US" sz="1800" dirty="0"/>
              <a:t>, especially for large groups (8+), indicating bundled experience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Small-capacity listings (1–2 guests) show limited price differentiation</a:t>
            </a:r>
            <a:r>
              <a:rPr lang="en-US" sz="1800" dirty="0"/>
              <a:t>, even with higher amenities, suggesting diminishing returns at low capacity.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Best value-for-money appears in mid-capacity (3–4, 5–8) segments</a:t>
            </a:r>
            <a:r>
              <a:rPr lang="en-US" sz="1800" dirty="0"/>
              <a:t>, where price growth is more gradual relative to amenities offered.</a:t>
            </a: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99993667-06B7-09E6-6C9E-0B08BC010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13" y="969547"/>
            <a:ext cx="7030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Median Price Distribution Across Capacity–Amenity Segments</a:t>
            </a:r>
          </a:p>
        </p:txBody>
      </p:sp>
      <p:pic>
        <p:nvPicPr>
          <p:cNvPr id="5" name="Picture 4" descr="A chart with numbers and a number in a row&#10;&#10;AI-generated content may be incorrect.">
            <a:extLst>
              <a:ext uri="{FF2B5EF4-FFF2-40B4-BE49-F238E27FC236}">
                <a16:creationId xmlns:a16="http://schemas.microsoft.com/office/drawing/2014/main" id="{91C63DD6-2E94-51EE-4F0D-05A7EE5A6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04" y="1615321"/>
            <a:ext cx="6834506" cy="492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6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6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</a:t>
            </a:r>
            <a:r>
              <a:rPr lang="en-IN" sz="28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 ANALYSIS 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30F80B-9693-C733-8CEB-D555F822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61007" y="1403913"/>
            <a:ext cx="4630993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2000" b="1" dirty="0"/>
              <a:t>Interpretation: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Bangalore and Delhi are dominated by budget and mid-range listings</a:t>
            </a:r>
            <a:r>
              <a:rPr lang="en-US" sz="1800" dirty="0"/>
              <a:t>, indicating value-focused and mass-market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Hyderabad shows a strong premium segment</a:t>
            </a:r>
            <a:r>
              <a:rPr lang="en-US" sz="1800" dirty="0"/>
              <a:t>, reflecting rising leisure demand and selective upscale positioning.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Mumbai has the highest concentration of premium and luxury listings</a:t>
            </a:r>
            <a:r>
              <a:rPr lang="en-US" sz="1800" dirty="0"/>
              <a:t>, confirming its status as a high-cost, demand-driven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Luxury listings remain a minority across all cities</a:t>
            </a:r>
            <a:r>
              <a:rPr lang="en-US" sz="1800" dirty="0"/>
              <a:t>, but their share is disproportionately higher in Mumbai compared to others.</a:t>
            </a:r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99993667-06B7-09E6-6C9E-0B08BC010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859" y="1143170"/>
            <a:ext cx="44343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Airbnb Market Segmentation Map</a:t>
            </a:r>
          </a:p>
        </p:txBody>
      </p:sp>
      <p:pic>
        <p:nvPicPr>
          <p:cNvPr id="5" name="Picture 4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A0E865C6-2DF1-E98B-5234-E99BCF0C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1" y="1993345"/>
            <a:ext cx="7505956" cy="419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51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 and diagrams&#10;&#10;AI-generated content may be incorrect.">
            <a:extLst>
              <a:ext uri="{FF2B5EF4-FFF2-40B4-BE49-F238E27FC236}">
                <a16:creationId xmlns:a16="http://schemas.microsoft.com/office/drawing/2014/main" id="{7832010A-907B-2ADF-D7CC-7B86B281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52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88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HYPOTHESIS 1: Weekend vs Weekday Price Difference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2942C-384B-BD80-8FAC-B895A35A5A58}"/>
              </a:ext>
            </a:extLst>
          </p:cNvPr>
          <p:cNvSpPr txBox="1"/>
          <p:nvPr/>
        </p:nvSpPr>
        <p:spPr>
          <a:xfrm>
            <a:off x="452284" y="1140649"/>
            <a:ext cx="11071122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EDA Observation</a:t>
            </a:r>
            <a:br>
              <a:rPr lang="en-US" sz="1600" dirty="0"/>
            </a:br>
            <a:r>
              <a:rPr lang="en-US" sz="1600" dirty="0"/>
              <a:t>Weekend and weekday prices differ even after per-night normalization. Hyderabad shows weekend-driven pricing, while Mumbai shows stronger weekday pricing.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Hypotheses</a:t>
            </a:r>
            <a:br>
              <a:rPr lang="en-US" sz="1600" dirty="0"/>
            </a:br>
            <a:r>
              <a:rPr lang="en-US" sz="1600" b="1" dirty="0"/>
              <a:t>H₀: </a:t>
            </a:r>
            <a:r>
              <a:rPr lang="en-US" sz="1600" dirty="0"/>
              <a:t>Normalized weekend and weekday prices are equal</a:t>
            </a:r>
            <a:br>
              <a:rPr lang="en-US" sz="1600" dirty="0"/>
            </a:br>
            <a:r>
              <a:rPr lang="en-US" sz="1600" b="1" dirty="0"/>
              <a:t>H₁: </a:t>
            </a:r>
            <a:r>
              <a:rPr lang="en-US" sz="1600" dirty="0"/>
              <a:t>Normalized weekend and weekday prices are different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Statistical Test</a:t>
            </a:r>
            <a:br>
              <a:rPr lang="en-US" sz="1600" dirty="0"/>
            </a:br>
            <a:r>
              <a:rPr lang="en-US" sz="1600" dirty="0"/>
              <a:t>Independent two-sample t-test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Result &amp; Interpretation</a:t>
            </a:r>
            <a:br>
              <a:rPr lang="en-US" sz="1600" dirty="0"/>
            </a:br>
            <a:r>
              <a:rPr lang="en-US" sz="1600" dirty="0"/>
              <a:t>The p-value is well below 0.05, leading to rejection of H₀. Normalized weekend prices are significantly higher than weekday prices, confirming a real weekend pricing effect.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Business Insight</a:t>
            </a:r>
            <a:br>
              <a:rPr lang="en-US" sz="1600" dirty="0"/>
            </a:br>
            <a:r>
              <a:rPr lang="en-US" sz="1600" dirty="0"/>
              <a:t>Weekend premiums reflect real leisure demand, enabling hosts to price higher on weekends, especially in leisure-oriented cities.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7809"/>
            <a:ext cx="10515600" cy="66488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HYPOTHESIS 2: City vs Price (Location Effect)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75F54-B0A2-4C81-5D72-9FDE983FD29C}"/>
              </a:ext>
            </a:extLst>
          </p:cNvPr>
          <p:cNvSpPr txBox="1"/>
          <p:nvPr/>
        </p:nvSpPr>
        <p:spPr>
          <a:xfrm>
            <a:off x="658762" y="1160207"/>
            <a:ext cx="11071122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EDA Observation</a:t>
            </a:r>
            <a:br>
              <a:rPr lang="en-US" sz="1600" dirty="0"/>
            </a:br>
            <a:r>
              <a:rPr lang="en-US" sz="1600" dirty="0"/>
              <a:t>Airbnb prices appear substantially higher in Mumbai compared to other cities.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Hypotheses</a:t>
            </a:r>
            <a:br>
              <a:rPr lang="en-US" sz="1600" dirty="0"/>
            </a:br>
            <a:r>
              <a:rPr lang="en-US" sz="1600" dirty="0"/>
              <a:t>H₀: Mean normalized prices are equal across cities</a:t>
            </a:r>
            <a:br>
              <a:rPr lang="en-US" sz="1600" dirty="0"/>
            </a:br>
            <a:r>
              <a:rPr lang="en-US" sz="1600" dirty="0"/>
              <a:t>H₁: At least one city has a different mean price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Statistical Test</a:t>
            </a:r>
            <a:br>
              <a:rPr lang="en-US" sz="1600" dirty="0"/>
            </a:br>
            <a:r>
              <a:rPr lang="en-US" sz="1600" dirty="0"/>
              <a:t>One-way ANOVA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Result &amp; Interpretation</a:t>
            </a:r>
            <a:br>
              <a:rPr lang="en-US" sz="1600" dirty="0"/>
            </a:br>
            <a:r>
              <a:rPr lang="en-US" sz="1600" dirty="0"/>
              <a:t>The p-value is far below 0.05, leading to rejection of H₀. Normalized Airbnb prices differ significantly across cities, indicating strong location-based price variation.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Business Insight</a:t>
            </a:r>
            <a:br>
              <a:rPr lang="en-US" sz="1600" dirty="0"/>
            </a:br>
            <a:r>
              <a:rPr lang="en-US" sz="1600" dirty="0"/>
              <a:t>City is a dominant pricing driver independent of stay duration. Airbnb pricing must be evaluated within the same city, as cross-city price comparisons are misleading for both users and hosts.</a:t>
            </a:r>
          </a:p>
        </p:txBody>
      </p:sp>
    </p:spTree>
    <p:extLst>
      <p:ext uri="{BB962C8B-B14F-4D97-AF65-F5344CB8AC3E}">
        <p14:creationId xmlns:p14="http://schemas.microsoft.com/office/powerpoint/2010/main" val="229286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7977"/>
            <a:ext cx="10515600" cy="66488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HYPOTHESIS 3: Amenities vs Price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12FB-191C-3FA6-FF0B-7FC5E2B03ADC}"/>
              </a:ext>
            </a:extLst>
          </p:cNvPr>
          <p:cNvSpPr txBox="1"/>
          <p:nvPr/>
        </p:nvSpPr>
        <p:spPr>
          <a:xfrm>
            <a:off x="648929" y="1081548"/>
            <a:ext cx="11041626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EDA Observation</a:t>
            </a:r>
            <a:br>
              <a:rPr lang="en-US" sz="1600" dirty="0"/>
            </a:br>
            <a:r>
              <a:rPr lang="en-US" sz="1600" dirty="0"/>
              <a:t>Listings with more amenities tend to have higher prices, but the relationship appears weak.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Hypotheses</a:t>
            </a:r>
            <a:br>
              <a:rPr lang="en-US" sz="1600" dirty="0"/>
            </a:br>
            <a:r>
              <a:rPr lang="en-US" sz="1600" dirty="0"/>
              <a:t>H₀: Amenities have no impact on price</a:t>
            </a:r>
            <a:br>
              <a:rPr lang="en-US" sz="1600" dirty="0"/>
            </a:br>
            <a:r>
              <a:rPr lang="en-US" sz="1600" dirty="0"/>
              <a:t>H₁: Amenities significantly affect price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Statistical Test</a:t>
            </a:r>
            <a:br>
              <a:rPr lang="en-US" sz="1600" dirty="0"/>
            </a:br>
            <a:r>
              <a:rPr lang="en-US" sz="1600" dirty="0"/>
              <a:t>Pearson correlation test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Result &amp; Interpretation</a:t>
            </a:r>
            <a:br>
              <a:rPr lang="en-US" sz="1600" dirty="0"/>
            </a:br>
            <a:r>
              <a:rPr lang="en-US" sz="1600" dirty="0"/>
              <a:t>The correlation is weakly positive (~0.23) but statistically significant, leading to rejection of H₀. Amenities are associated with higher prices, but they explain only a small portion of price variation.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Business Insight</a:t>
            </a:r>
            <a:br>
              <a:rPr lang="en-US" sz="1600" dirty="0"/>
            </a:br>
            <a:r>
              <a:rPr lang="en-US" sz="1600" dirty="0"/>
              <a:t>Amenities add limited pricing power; beyond essentials, they don’t guarantee better value compared to factors like location, capacity, and timing.</a:t>
            </a:r>
          </a:p>
        </p:txBody>
      </p:sp>
    </p:spTree>
    <p:extLst>
      <p:ext uri="{BB962C8B-B14F-4D97-AF65-F5344CB8AC3E}">
        <p14:creationId xmlns:p14="http://schemas.microsoft.com/office/powerpoint/2010/main" val="67183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815"/>
            <a:ext cx="10515600" cy="66488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HYPOTHESIS 4: Guest Capacity vs Price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6AA0F-ED1C-4C9C-08F5-3836D2DE65E8}"/>
              </a:ext>
            </a:extLst>
          </p:cNvPr>
          <p:cNvSpPr txBox="1"/>
          <p:nvPr/>
        </p:nvSpPr>
        <p:spPr>
          <a:xfrm>
            <a:off x="639097" y="1307690"/>
            <a:ext cx="10515600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EDA Observation</a:t>
            </a:r>
            <a:br>
              <a:rPr lang="en-US" sz="1600" dirty="0"/>
            </a:br>
            <a:r>
              <a:rPr lang="en-US" sz="1600" dirty="0"/>
              <a:t>Listings with higher guest capacity are generally priced higher.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Hypotheses</a:t>
            </a:r>
            <a:br>
              <a:rPr lang="en-US" sz="1600" dirty="0"/>
            </a:br>
            <a:r>
              <a:rPr lang="en-US" sz="1600" dirty="0"/>
              <a:t>H₀: Guest capacity has no impact on price</a:t>
            </a:r>
            <a:br>
              <a:rPr lang="en-US" sz="1600" dirty="0"/>
            </a:br>
            <a:r>
              <a:rPr lang="en-US" sz="1600" dirty="0"/>
              <a:t>H₁: Higher guest capacity increases price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Statistical Test</a:t>
            </a:r>
            <a:br>
              <a:rPr lang="en-US" sz="1600" dirty="0"/>
            </a:br>
            <a:r>
              <a:rPr lang="en-US" sz="1600" dirty="0"/>
              <a:t>Pearson correlation test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Result &amp; Interpretation</a:t>
            </a:r>
            <a:br>
              <a:rPr lang="en-US" sz="1600" dirty="0"/>
            </a:br>
            <a:r>
              <a:rPr lang="en-US" sz="1600" dirty="0"/>
              <a:t>The p-value is far below 0.05, leading to rejection of H₀. Guest capacity shows a moderate positive relationship with normalized price, stronger than amenities.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Business Insight</a:t>
            </a:r>
            <a:br>
              <a:rPr lang="en-US" sz="1600" dirty="0"/>
            </a:br>
            <a:r>
              <a:rPr lang="en-US" sz="1600" dirty="0"/>
              <a:t>Capacity is a strong pricing driver; guests should only pay for extra space when needed, while hosts gain more pricing power from increasing usable capacity than from adding amenities.</a:t>
            </a:r>
          </a:p>
        </p:txBody>
      </p:sp>
    </p:spTree>
    <p:extLst>
      <p:ext uri="{BB962C8B-B14F-4D97-AF65-F5344CB8AC3E}">
        <p14:creationId xmlns:p14="http://schemas.microsoft.com/office/powerpoint/2010/main" val="666581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7976"/>
            <a:ext cx="10515600" cy="66488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HYPOTHESIS 5: Ratings vs Price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F9DDE-DD0F-80C9-D60B-354B2A588EA4}"/>
              </a:ext>
            </a:extLst>
          </p:cNvPr>
          <p:cNvSpPr txBox="1"/>
          <p:nvPr/>
        </p:nvSpPr>
        <p:spPr>
          <a:xfrm>
            <a:off x="511277" y="1514169"/>
            <a:ext cx="10923639" cy="410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EDA Observation</a:t>
            </a:r>
            <a:br>
              <a:rPr lang="en-US" sz="1600" dirty="0"/>
            </a:br>
            <a:r>
              <a:rPr lang="en-US" sz="1600" dirty="0"/>
              <a:t>Higher-rated listings are not consistently more expensive.</a:t>
            </a:r>
            <a:r>
              <a:rPr lang="en-US" sz="1600" b="1" dirty="0"/>
              <a:t>Hypotheses</a:t>
            </a:r>
            <a:br>
              <a:rPr lang="en-US" sz="1600" dirty="0"/>
            </a:br>
            <a:r>
              <a:rPr lang="en-US" sz="1600" dirty="0"/>
              <a:t>H₀: Ratings have no impact on price</a:t>
            </a:r>
            <a:br>
              <a:rPr lang="en-US" sz="1600" dirty="0"/>
            </a:br>
            <a:r>
              <a:rPr lang="en-US" sz="1600" dirty="0"/>
              <a:t>H₁: Higher ratings increase price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Statistical Test</a:t>
            </a:r>
            <a:br>
              <a:rPr lang="en-US" sz="1600" dirty="0"/>
            </a:br>
            <a:r>
              <a:rPr lang="en-US" sz="1600" dirty="0"/>
              <a:t>Pearson correlation test (rated listings only)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Result &amp; Interpretation</a:t>
            </a:r>
            <a:br>
              <a:rPr lang="en-US" sz="1600" dirty="0"/>
            </a:br>
            <a:r>
              <a:rPr lang="en-US" sz="1600" dirty="0"/>
              <a:t>The p-value is below 0.05, leading to rejection of H₀. Ratings are statistically associated with price, but the relationship is very weak, indicating minimal practical impact.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Business Insight</a:t>
            </a:r>
            <a:br>
              <a:rPr lang="en-US" sz="1600" dirty="0"/>
            </a:br>
            <a:r>
              <a:rPr lang="en-US" sz="1600" dirty="0"/>
              <a:t>Ratings reflect trust, not pricing power; small rating differences don’t justify higher prices or guarantee better value.</a:t>
            </a:r>
          </a:p>
        </p:txBody>
      </p:sp>
    </p:spTree>
    <p:extLst>
      <p:ext uri="{BB962C8B-B14F-4D97-AF65-F5344CB8AC3E}">
        <p14:creationId xmlns:p14="http://schemas.microsoft.com/office/powerpoint/2010/main" val="2384976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KEY BUSINESS INSIGHTS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7217D5-1BC3-0178-E811-854FE73CA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3" y="1104778"/>
            <a:ext cx="11080957" cy="514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Airbnb pricing is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systematic, not random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driven by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location, demand timing, and listing structure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after normalizing for stay duration.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Location is the strongest driver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Airbnb pricing across all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Weekend pricing effects are city-specific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universal, reflecting local travel behavior rather than a fixed weekend markup.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prices remain inflated by luxury listings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normalized prices better represent typical booking costs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Guest capacity has a stronger influence on normalized price than amenities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space matters more than feature count.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Amenities and ratings show statistically significant but weak effects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offering limited practical pricing power.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Airbnb markets are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 segmented into budget, mid-range, premium, and luxury tiers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after price normalization.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884" y="182924"/>
            <a:ext cx="10515600" cy="7069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RECOMMENDATIONS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DCC05-4D4D-9F4E-239C-0B4E47238A91}"/>
              </a:ext>
            </a:extLst>
          </p:cNvPr>
          <p:cNvSpPr txBox="1"/>
          <p:nvPr/>
        </p:nvSpPr>
        <p:spPr>
          <a:xfrm>
            <a:off x="373625" y="994172"/>
            <a:ext cx="10137058" cy="2711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For Value-Conscious Guests (like Rahul):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Location matters more than budget</a:t>
            </a:r>
            <a:r>
              <a:rPr lang="en-US" sz="1650" dirty="0"/>
              <a:t> → the same money buys very different value in different cities.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Use median prices, not averages</a:t>
            </a:r>
            <a:r>
              <a:rPr lang="en-US" sz="1650" dirty="0"/>
              <a:t> → averages are distorted by luxury listings.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Weekdays are often cheaper</a:t>
            </a:r>
            <a:r>
              <a:rPr lang="en-US" sz="1650" dirty="0"/>
              <a:t> → weekend premiums depend on the city, not a rule.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Book only the space you need</a:t>
            </a:r>
            <a:r>
              <a:rPr lang="en-US" sz="1650" dirty="0"/>
              <a:t> → larger capacity directly raises prices.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Ratings mean reliability, not luxury</a:t>
            </a:r>
            <a:r>
              <a:rPr lang="en-US" sz="1650" dirty="0"/>
              <a:t> → small rating differences don’t justify big price jumps.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More amenities ≠ better value</a:t>
            </a:r>
            <a:r>
              <a:rPr lang="en-US" sz="1650" dirty="0"/>
              <a:t> → extras rarely give proportional price benefits.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C1466-5980-1C49-1192-E3CCEC2C78CE}"/>
              </a:ext>
            </a:extLst>
          </p:cNvPr>
          <p:cNvSpPr txBox="1"/>
          <p:nvPr/>
        </p:nvSpPr>
        <p:spPr>
          <a:xfrm>
            <a:off x="373625" y="3914192"/>
            <a:ext cx="10068231" cy="1949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For Hosts: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Price locally, not uniformly</a:t>
            </a:r>
            <a:r>
              <a:rPr lang="en-US" sz="1650" dirty="0"/>
              <a:t> → each city has its own demand and pricing behavior.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Discount early to build trust</a:t>
            </a:r>
            <a:r>
              <a:rPr lang="en-US" sz="1650" dirty="0"/>
              <a:t> → new listings need slightly lower prices to offset missing reviews.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Invest in space over extras</a:t>
            </a:r>
            <a:r>
              <a:rPr lang="en-US" sz="1650" dirty="0"/>
              <a:t> → more usable capacity boosts prices more than marginal amenities.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/>
              <a:t> Use city-specific dynamic pricing</a:t>
            </a:r>
            <a:r>
              <a:rPr lang="en-US" sz="1650" dirty="0"/>
              <a:t> → weekday vs weekend demand varies by city, not assumptions.</a:t>
            </a:r>
          </a:p>
        </p:txBody>
      </p:sp>
    </p:spTree>
    <p:extLst>
      <p:ext uri="{BB962C8B-B14F-4D97-AF65-F5344CB8AC3E}">
        <p14:creationId xmlns:p14="http://schemas.microsoft.com/office/powerpoint/2010/main" val="2103021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723" y="166829"/>
            <a:ext cx="10515600" cy="7069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Conclusion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1A7CD-3135-7827-CDE5-C0B68E4C2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45" y="873759"/>
            <a:ext cx="11592232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Airbnb pricing across Indian metro cities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variability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cannot be explained by a single factor.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Location is the dominant pricing driver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each city operating as an independent and distinct Airbnb market.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Normalized price distributions are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median normalized price a more reliable indicator than averages.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Weekend vs weekday pricing effects are city-specific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local demand patterns rather than a universal weekend premium.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Amenities, ratings, and reviews show statistical significance but limited practical pricing impact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basic thresholds.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Guest capacity and property type act as core structural pricing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influencing price more consistently than cosmetic features.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Airbnb market is clearly segmented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budget, mid-range, premium, and luxury tiers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limited value overlap across segments.</a:t>
            </a:r>
          </a:p>
        </p:txBody>
      </p:sp>
    </p:spTree>
    <p:extLst>
      <p:ext uri="{BB962C8B-B14F-4D97-AF65-F5344CB8AC3E}">
        <p14:creationId xmlns:p14="http://schemas.microsoft.com/office/powerpoint/2010/main" val="294193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75948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  <a:latin typeface="Arial Black" panose="020B0A04020102020204" pitchFamily="34" charset="0"/>
              </a:rPr>
              <a:t>Challenges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78093" y="1419576"/>
            <a:ext cx="11235813" cy="342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Messy web data</a:t>
            </a:r>
            <a:r>
              <a:rPr lang="en-IN" sz="2100" dirty="0"/>
              <a:t> → listings differ in format and terms, requiring heavy cleaning.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Missing values</a:t>
            </a:r>
            <a:r>
              <a:rPr lang="en-IN" sz="2100" dirty="0"/>
              <a:t> → new listings lack reviews, making fair comparison harder.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Changing prices</a:t>
            </a:r>
            <a:r>
              <a:rPr lang="en-IN" sz="2100" dirty="0"/>
              <a:t> → prices vary by date and demand, so snapshots aren’t perfect.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Luxury outliers</a:t>
            </a:r>
            <a:r>
              <a:rPr lang="en-IN" sz="2100" dirty="0"/>
              <a:t> → extreme listings distort averages, so medians are needed.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Coarse location data</a:t>
            </a:r>
            <a:r>
              <a:rPr lang="en-IN" sz="2100" dirty="0"/>
              <a:t> → inconsistent area names limit detailed geographic analysis.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Interlinked features</a:t>
            </a:r>
            <a:r>
              <a:rPr lang="en-IN" sz="2100" dirty="0"/>
              <a:t> → space, amenities, and property type influence prices together.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/>
              <a:t> Stats vs reality gap</a:t>
            </a:r>
            <a:r>
              <a:rPr lang="en-IN" sz="2100" dirty="0"/>
              <a:t> → statistically significant results may have small real impact.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F2EEE-6EB4-3734-578D-ED019AA8E0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8" y="12423"/>
            <a:ext cx="12214168" cy="684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1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1044</TotalTime>
  <Words>2875</Words>
  <Application>Microsoft Office PowerPoint</Application>
  <PresentationFormat>Widescreen</PresentationFormat>
  <Paragraphs>205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 Black</vt:lpstr>
      <vt:lpstr>Arial</vt:lpstr>
      <vt:lpstr>Calibri</vt:lpstr>
      <vt:lpstr>Algerian</vt:lpstr>
      <vt:lpstr>ui-sans-serif</vt:lpstr>
      <vt:lpstr>Office Theme</vt:lpstr>
      <vt:lpstr>PowerPoint Presentation</vt:lpstr>
      <vt:lpstr>PowerPoint Presentation</vt:lpstr>
      <vt:lpstr>Agenda   </vt:lpstr>
      <vt:lpstr>  Introduction</vt:lpstr>
      <vt:lpstr>  Business Problem </vt:lpstr>
      <vt:lpstr>   Project Objectives  </vt:lpstr>
      <vt:lpstr>   THE DATASET &amp; TARGET VARIABLE  </vt:lpstr>
      <vt:lpstr> Summary of the table </vt:lpstr>
      <vt:lpstr>PowerPoint Presentation</vt:lpstr>
      <vt:lpstr>   Data Preprocessing  </vt:lpstr>
      <vt:lpstr>   UNIVARIATE ANALYSIS: PRICE DISTRIBUTION  </vt:lpstr>
      <vt:lpstr>   UNIVARIATE ANALYSIS: PRICE DISTRIBUTION  </vt:lpstr>
      <vt:lpstr>   BIVARIATE ANALYSIS  </vt:lpstr>
      <vt:lpstr>   BIVARIATE ANALYSIS  </vt:lpstr>
      <vt:lpstr>   BIVARIATE ANALYSIS  </vt:lpstr>
      <vt:lpstr>   BIVARIATE ANALYSIS  </vt:lpstr>
      <vt:lpstr>   BIVARIATE ANALYSIS  </vt:lpstr>
      <vt:lpstr>   MULTIVARIATE ANALYSIS   </vt:lpstr>
      <vt:lpstr>   MULTIVARIATE ANALYSIS   </vt:lpstr>
      <vt:lpstr>   MULTIVARIATE ANALYSIS   </vt:lpstr>
      <vt:lpstr>PowerPoint Presentation</vt:lpstr>
      <vt:lpstr>HYPOTHESIS 1: Weekend vs Weekday Price Difference</vt:lpstr>
      <vt:lpstr>HYPOTHESIS 2: City vs Price (Location Effect)</vt:lpstr>
      <vt:lpstr>HYPOTHESIS 3: Amenities vs Price</vt:lpstr>
      <vt:lpstr>HYPOTHESIS 4: Guest Capacity vs Price</vt:lpstr>
      <vt:lpstr>HYPOTHESIS 5: Ratings vs Price</vt:lpstr>
      <vt:lpstr>KEY BUSINESS INSIGHTS</vt:lpstr>
      <vt:lpstr>RECOMMENDATIONS</vt:lpstr>
      <vt:lpstr>Conclusion</vt:lpstr>
      <vt:lpstr>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leosh leo</cp:lastModifiedBy>
  <cp:revision>79</cp:revision>
  <dcterms:created xsi:type="dcterms:W3CDTF">2021-02-16T05:19:00Z</dcterms:created>
  <dcterms:modified xsi:type="dcterms:W3CDTF">2026-01-31T04:05:09Z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C7457F408B1844C9A48AB71B2E94ED9B_12</vt:lpwstr>
  </property>
  <property fmtid="{D5CDD505-2E9C-101B-9397-08002B2CF9AE}" pid="3" name="KSOProductBuildVer">
    <vt:lpwstr>2057-12.2.0.23197</vt:lpwstr>
  </property>
</Properties>
</file>